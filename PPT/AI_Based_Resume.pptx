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7CAE5"/>
                </a:solidFill>
                <a:latin typeface="Aptos"/>
              </a:rPr>
              <a:t>DEEP LEARNING MINI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0783" y="964474"/>
            <a:ext cx="9855926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000" b="1" dirty="0">
                <a:solidFill>
                  <a:srgbClr val="F5F8FA"/>
                </a:solidFill>
                <a:latin typeface="Aptos"/>
              </a:rPr>
              <a:t>AI-Based Resume</a:t>
            </a:r>
            <a:r>
              <a:rPr lang="en-US" sz="5000" b="1" dirty="0">
                <a:solidFill>
                  <a:srgbClr val="F5F8FA"/>
                </a:solidFill>
                <a:latin typeface="Aptos"/>
              </a:rPr>
              <a:t> </a:t>
            </a:r>
            <a:r>
              <a:rPr sz="5000" b="1" dirty="0">
                <a:solidFill>
                  <a:srgbClr val="F5F8FA"/>
                </a:solidFill>
                <a:latin typeface="Aptos"/>
              </a:rPr>
              <a:t>Screening using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782" y="2595690"/>
            <a:ext cx="10550435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 dirty="0">
                <a:solidFill>
                  <a:srgbClr val="AFC0CD"/>
                </a:solidFill>
                <a:latin typeface="Aptos"/>
              </a:rPr>
              <a:t>Semantic resume screening and job matching using Sentence</a:t>
            </a:r>
            <a:r>
              <a:rPr lang="en-US" sz="2500" b="0" dirty="0">
                <a:solidFill>
                  <a:srgbClr val="AFC0CD"/>
                </a:solidFill>
                <a:latin typeface="Aptos"/>
              </a:rPr>
              <a:t> </a:t>
            </a:r>
            <a:r>
              <a:rPr sz="2500" b="0" dirty="0">
                <a:solidFill>
                  <a:srgbClr val="AFC0CD"/>
                </a:solidFill>
                <a:latin typeface="Aptos"/>
              </a:rPr>
              <a:t>-</a:t>
            </a:r>
            <a:r>
              <a:rPr lang="en-US" sz="2500" b="0" dirty="0">
                <a:solidFill>
                  <a:srgbClr val="AFC0CD"/>
                </a:solidFill>
                <a:latin typeface="Aptos"/>
              </a:rPr>
              <a:t> </a:t>
            </a:r>
            <a:r>
              <a:rPr sz="2500" b="0" dirty="0">
                <a:solidFill>
                  <a:srgbClr val="AFC0CD"/>
                </a:solidFill>
                <a:latin typeface="Aptos"/>
              </a:rPr>
              <a:t>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3340" y="5231806"/>
            <a:ext cx="594360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0" dirty="0">
                <a:solidFill>
                  <a:srgbClr val="F5F8FA"/>
                </a:solidFill>
                <a:latin typeface="Aptos"/>
              </a:rPr>
              <a:t>Team Members:</a:t>
            </a:r>
          </a:p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Adithya V Acharya  </a:t>
            </a:r>
            <a:r>
              <a:rPr lang="en-US" sz="2000" b="0" dirty="0">
                <a:solidFill>
                  <a:srgbClr val="F5F8FA"/>
                </a:solidFill>
                <a:latin typeface="Aptos"/>
              </a:rPr>
              <a:t>-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 4SF23CS009
</a:t>
            </a:r>
            <a:r>
              <a:rPr sz="2000" b="0" dirty="0" err="1">
                <a:solidFill>
                  <a:srgbClr val="F5F8FA"/>
                </a:solidFill>
                <a:latin typeface="Aptos"/>
              </a:rPr>
              <a:t>Monesh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5F8FA"/>
                </a:solidFill>
                <a:latin typeface="Aptos"/>
              </a:rPr>
              <a:t>Devadiga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 </a:t>
            </a:r>
            <a:r>
              <a:rPr lang="en-US" sz="2000" b="0" dirty="0">
                <a:solidFill>
                  <a:srgbClr val="F5F8FA"/>
                </a:solidFill>
                <a:latin typeface="Aptos"/>
              </a:rPr>
              <a:t>-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 4SF23CS116
Abhilash </a:t>
            </a:r>
            <a:r>
              <a:rPr sz="2000" b="0" dirty="0" err="1">
                <a:solidFill>
                  <a:srgbClr val="F5F8FA"/>
                </a:solidFill>
                <a:latin typeface="Aptos"/>
              </a:rPr>
              <a:t>Uppar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 </a:t>
            </a:r>
            <a:r>
              <a:rPr lang="en-US" sz="2000" b="0" dirty="0">
                <a:solidFill>
                  <a:srgbClr val="F5F8FA"/>
                </a:solidFill>
                <a:latin typeface="Aptos"/>
              </a:rPr>
              <a:t>-</a:t>
            </a:r>
            <a:r>
              <a:rPr sz="2000" b="0" dirty="0">
                <a:solidFill>
                  <a:srgbClr val="F5F8FA"/>
                </a:solidFill>
                <a:latin typeface="Aptos"/>
              </a:rPr>
              <a:t>  4SF24CS400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4B10E0-995B-2412-27E8-339D195975A7}"/>
              </a:ext>
            </a:extLst>
          </p:cNvPr>
          <p:cNvSpPr txBox="1"/>
          <p:nvPr/>
        </p:nvSpPr>
        <p:spPr>
          <a:xfrm>
            <a:off x="954894" y="3950567"/>
            <a:ext cx="2578608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Under the Guidance of 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Ms. Shiji Abraham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Assistant Professor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Department of CSE</a:t>
            </a:r>
            <a:endParaRPr sz="2000" b="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Why automate resume screening?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29000" cy="347472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4650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05265"/>
                </a:solidFill>
                <a:latin typeface="Aptos"/>
              </a:rPr>
              <a:t>MANUAL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Recruiters review large numbers of resumes for one job opening.
The report identifies the process as time-consuming, inconsistent, keyword-dependent, and exposed to human bias.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47472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4650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B3D"/>
                </a:solidFill>
                <a:latin typeface="Aptos"/>
              </a:rPr>
              <a:t>TRADITIONAL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30552"/>
            <a:ext cx="309981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Keyword-based systems depend on exact terms.
They struggle with synonyms, different phrasing, context, and semantic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600200"/>
            <a:ext cx="3429000" cy="347472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1" y="174650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CF8F"/>
                </a:solidFill>
                <a:latin typeface="Aptos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130552"/>
            <a:ext cx="309981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Compare the meaning of a job description with the meaning of each resume.
Return a ranked candidate list using semantic similarity.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321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7CAE5"/>
                </a:solidFill>
                <a:latin typeface="Aptos"/>
              </a:rPr>
              <a:t>Goal: move from exact keyword overlap to contextual semantic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From resume text to ranked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331720" cy="18288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4650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7CAE5"/>
                </a:solidFill>
                <a:latin typeface="Aptos"/>
              </a:rPr>
              <a:t>Extract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20025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PDF / DOCX / 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63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C0CD"/>
                </a:solidFill>
                <a:latin typeface="Aptos"/>
              </a:rPr>
              <a:t>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79" y="2487168"/>
            <a:ext cx="429769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1600200"/>
            <a:ext cx="2331720" cy="18288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74650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17CF5"/>
                </a:solidFill>
                <a:latin typeface="Aptos"/>
              </a:rPr>
              <a:t>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30552"/>
            <a:ext cx="20025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Sentence-BERT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063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C0CD"/>
                </a:solidFill>
                <a:latin typeface="Aptos"/>
              </a:rPr>
              <a:t>02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720" y="2487168"/>
            <a:ext cx="429768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600200"/>
            <a:ext cx="2331720" cy="18288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174650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CF8F"/>
                </a:solidFill>
                <a:latin typeface="Aptos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2130552"/>
            <a:ext cx="20025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Cosine similarity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063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C0CD"/>
                </a:solidFill>
                <a:latin typeface="Aptos"/>
              </a:rPr>
              <a:t>03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59" y="2487168"/>
            <a:ext cx="429769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98280" y="1600200"/>
            <a:ext cx="2331720" cy="18288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74650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AB3D"/>
                </a:solidFill>
                <a:latin typeface="Aptos"/>
              </a:rPr>
              <a:t>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130552"/>
            <a:ext cx="2002536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5F8FA"/>
                </a:solidFill>
                <a:latin typeface="Aptos"/>
              </a:rPr>
              <a:t>Highest score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0632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FC0C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7CAE5"/>
                </a:solidFill>
                <a:latin typeface="Aptos"/>
              </a:rPr>
              <a:t>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80560"/>
            <a:ext cx="10698480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rPr sz="2000" dirty="0"/>
              <a:t>• Develop automated resume screening with BERT-based NLP.</a:t>
            </a:r>
          </a:p>
          <a:p>
            <a:pPr>
              <a:spcAft>
                <a:spcPts val="4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rPr sz="2000" dirty="0"/>
              <a:t>• Match job descriptions and resumes using semantic similarity.</a:t>
            </a:r>
          </a:p>
          <a:p>
            <a:pPr>
              <a:spcAft>
                <a:spcPts val="4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rPr sz="2000" dirty="0"/>
              <a:t>• Provide a secure recruiter web application with authentication.</a:t>
            </a:r>
          </a:p>
          <a:p>
            <a:pPr>
              <a:spcAft>
                <a:spcPts val="4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rPr sz="2000" dirty="0"/>
              <a:t>• Support PDF, DOCX and TXT resumes.</a:t>
            </a:r>
          </a:p>
          <a:p>
            <a:pPr>
              <a:spcAft>
                <a:spcPts val="400"/>
              </a:spcAft>
              <a:defRPr sz="1400">
                <a:solidFill>
                  <a:srgbClr val="F5F8FA"/>
                </a:solidFill>
                <a:latin typeface="Aptos"/>
              </a:defRPr>
            </a:pPr>
            <a:r>
              <a:rPr sz="2000" dirty="0"/>
              <a:t>• Provide dashboard analytics and screening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WHY BERT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Keyword matching versus semantic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12080" cy="3438144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746504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05265"/>
                </a:solidFill>
                <a:latin typeface="Aptos"/>
              </a:rPr>
              <a:t>TRADITIONAL 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432" y="2212848"/>
            <a:ext cx="488289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Exact keyword filtering
• Limited synonym handling
• Weak context understanding
• Different phrasing may reduce matches
• Resume text is often reduced to term overlap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12080" cy="3438144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746504"/>
            <a:ext cx="4882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2BCF8F"/>
                </a:solidFill>
                <a:latin typeface="Aptos"/>
              </a:rPr>
              <a:t>BERT-BASED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195887"/>
            <a:ext cx="488289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Semantic representation of text
• Understands contextual meaning
• Handles related phrasing
• Converts text into dense vectors
• Scores similarity between job and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27CAE5"/>
                </a:solidFill>
                <a:latin typeface="Aptos"/>
              </a:rPr>
              <a:t>Example: “REST APIs” and “built web services” are treated as semantically related by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Sentence-BERT: the matching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10312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417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195681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JOB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00200"/>
            <a:ext cx="2743200" cy="1371600"/>
          </a:xfrm>
          <a:prstGeom prst="roundRect">
            <a:avLst/>
          </a:prstGeom>
          <a:solidFill>
            <a:srgbClr val="122A3E"/>
          </a:solidFill>
          <a:ln>
            <a:solidFill>
              <a:srgbClr val="2B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673352"/>
            <a:ext cx="2596896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Sentence-BERT
all-MiniLM-L6-v2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828800"/>
            <a:ext cx="210312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F5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1" y="1901952"/>
            <a:ext cx="195681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384-D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210312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417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959352"/>
            <a:ext cx="195681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RESUME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886200"/>
            <a:ext cx="210312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F5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2631" y="3959352"/>
            <a:ext cx="195681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384-D VECTOR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2286000"/>
            <a:ext cx="868680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2286000"/>
            <a:ext cx="868680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88920" y="2880360"/>
            <a:ext cx="868680" cy="146304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2880360"/>
            <a:ext cx="868680" cy="146304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38360" y="1828800"/>
            <a:ext cx="2267712" cy="29718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2952" y="1975104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CAE5"/>
                </a:solidFill>
                <a:latin typeface="Aptos"/>
              </a:rPr>
              <a:t>MODEL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359152"/>
            <a:ext cx="2103120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22.7M parameters
384 dimensions
256-token max sequence
1B+ sentence-pair training data
Cosine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FC0CD"/>
                </a:solidFill>
                <a:latin typeface="Aptos"/>
              </a:rPr>
              <a:t>The report identifies all-MiniLM-L6-v2 as a distilled BERT architecture optimized for semantic similarity.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How the system calculates a match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dirty="0">
                <a:solidFill>
                  <a:srgbClr val="27CAE5"/>
                </a:solidFill>
                <a:latin typeface="Aptos"/>
              </a:rPr>
              <a:t>cosine similarity(A, B) = (A · B) / (||A|| × ||B||)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46120" cy="2057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8895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17CF5"/>
                </a:solidFill>
                <a:latin typeface="Aptos"/>
              </a:rPr>
              <a:t>JOB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73552"/>
            <a:ext cx="291693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Represents the semantic meaning of the job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43200"/>
            <a:ext cx="3246120" cy="2057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8895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CF8F"/>
                </a:solidFill>
                <a:latin typeface="Aptos"/>
              </a:rPr>
              <a:t>RESUME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273552"/>
            <a:ext cx="291693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Represents the semantic meaning of a candidate resume.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246120" cy="2057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889504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AB3D"/>
                </a:solidFill>
                <a:latin typeface="Aptos"/>
              </a:rPr>
              <a:t>MATCH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273552"/>
            <a:ext cx="2916936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5F8FA"/>
                </a:solidFill>
                <a:latin typeface="Aptos"/>
              </a:rPr>
              <a:t>Similarity is converted to a percentage and candidates are sorted in descending order.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77639" y="3749039"/>
            <a:ext cx="502921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79" y="3749039"/>
            <a:ext cx="502921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53492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8FA"/>
                </a:solidFill>
                <a:latin typeface="Aptos"/>
              </a:rPr>
              <a:t>Higher semantic similarity → higher ranking in the screening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From recruiter input to ranked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27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72184"/>
            <a:ext cx="32004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A"/>
                </a:solidFill>
                <a:latin typeface="Aptos"/>
              </a:rPr>
              <a:t>Recruiter / User</a:t>
            </a:r>
            <a:r>
              <a:rPr lang="en-US" sz="1400" b="1" dirty="0">
                <a:solidFill>
                  <a:srgbClr val="F5F8FA"/>
                </a:solidFill>
                <a:latin typeface="Aptos"/>
              </a:rPr>
              <a:t> Dashboard</a:t>
            </a:r>
            <a:endParaRPr sz="1400" b="1" dirty="0">
              <a:solidFill>
                <a:srgbClr val="F5F8FA"/>
              </a:solidFill>
              <a:latin typeface="Aptos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691640" y="1920240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039112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417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112264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02443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React.js + Vite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91640" y="2542032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2660904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F5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734056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157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A"/>
                </a:solidFill>
                <a:latin typeface="Aptos"/>
              </a:rPr>
              <a:t>JWT middleware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3163824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3282696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2B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355848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3375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FastAPI + Python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91640" y="3785616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" y="3904488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27C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977640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95935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A"/>
                </a:solidFill>
                <a:latin typeface="Aptos"/>
              </a:rPr>
              <a:t>Sentence-Transformers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91640" y="4407408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4526280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417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599432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8114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8FA"/>
                </a:solidFill>
                <a:latin typeface="Aptos"/>
              </a:rPr>
              <a:t>SQLite + </a:t>
            </a:r>
            <a:r>
              <a:rPr sz="1400" b="1" dirty="0" err="1">
                <a:solidFill>
                  <a:srgbClr val="F5F8FA"/>
                </a:solidFill>
                <a:latin typeface="Aptos"/>
              </a:rPr>
              <a:t>SQLAlchemy</a:t>
            </a:r>
            <a:endParaRPr sz="1400" b="1" dirty="0">
              <a:solidFill>
                <a:srgbClr val="F5F8FA"/>
              </a:solidFill>
              <a:latin typeface="Apto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691640" y="5029200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5148072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F5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221224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PARSER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2029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PyMuPDF + python-docx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91640" y="5650992"/>
            <a:ext cx="0" cy="21031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77240" y="5769864"/>
            <a:ext cx="1828800" cy="502920"/>
          </a:xfrm>
          <a:prstGeom prst="roundRect">
            <a:avLst/>
          </a:prstGeom>
          <a:solidFill>
            <a:srgbClr val="122A3E"/>
          </a:solidFill>
          <a:ln>
            <a:solidFill>
              <a:srgbClr val="2B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" y="5843016"/>
            <a:ext cx="1682496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A"/>
                </a:solidFill>
                <a:latin typeface="Aptos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824727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A"/>
                </a:solidFill>
                <a:latin typeface="Aptos"/>
              </a:rPr>
              <a:t>Cosine similarity + ranking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1371127"/>
            <a:ext cx="4709160" cy="5038614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31152" y="1655063"/>
            <a:ext cx="43799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7CAE5"/>
                </a:solidFill>
                <a:latin typeface="Aptos"/>
              </a:rPr>
              <a:t>END-TO-END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039112"/>
            <a:ext cx="4379976" cy="4093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dirty="0">
                <a:solidFill>
                  <a:srgbClr val="F5F8FA"/>
                </a:solidFill>
                <a:latin typeface="Aptos"/>
              </a:rPr>
              <a:t>User registers
↓
Adds resumes and job descriptions
↓
Backend extracts resume text
↓
Sentence-BERT creates embeddings
↓
Cosine similarity computes scores
↓
Candidates are ranked and saved
↓
React dashboard displays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3796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FC0CD"/>
                </a:solidFill>
                <a:latin typeface="Aptos"/>
              </a:rPr>
              <a:t>Source: Project Report, September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Resume screening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79222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CAE5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7627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Register / Login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212848"/>
            <a:ext cx="393192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64592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79222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7CF5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7627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Upload Resume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77840" y="2212848"/>
            <a:ext cx="393191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164592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79222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B3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17627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Extract 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212848"/>
            <a:ext cx="393192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164592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79222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CF8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17627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Add Job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403250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CAE5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441655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Generate Embeddings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80360" y="4453128"/>
            <a:ext cx="393192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37560" y="388620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02152" y="403250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7CF5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441655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Compute Similarity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577840" y="4453128"/>
            <a:ext cx="393191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35040" y="388620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1" y="403250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B3D"/>
                </a:solidFill>
                <a:latin typeface="Aptos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1" y="4416552"/>
            <a:ext cx="191109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5F8FA"/>
                </a:solidFill>
                <a:latin typeface="Aptos"/>
              </a:rPr>
              <a:t>Rank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75320" y="4453128"/>
            <a:ext cx="393192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732520" y="3886200"/>
            <a:ext cx="224028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97112" y="4032504"/>
            <a:ext cx="1911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CF8F"/>
                </a:solidFill>
                <a:latin typeface="Aptos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4416552"/>
            <a:ext cx="1911096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A"/>
                </a:solidFill>
                <a:latin typeface="Aptos"/>
              </a:rPr>
              <a:t>Display Results</a:t>
            </a:r>
          </a:p>
        </p:txBody>
      </p:sp>
      <p:cxnSp>
        <p:nvCxnSpPr>
          <p:cNvPr id="36" name="Connector 35"/>
          <p:cNvCxnSpPr>
            <a:cxnSpLocks/>
          </p:cNvCxnSpPr>
          <p:nvPr/>
        </p:nvCxnSpPr>
        <p:spPr>
          <a:xfrm>
            <a:off x="9829800" y="2788920"/>
            <a:ext cx="0" cy="54864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</p:cNvCxnSpPr>
          <p:nvPr/>
        </p:nvCxnSpPr>
        <p:spPr>
          <a:xfrm>
            <a:off x="443653" y="3337560"/>
            <a:ext cx="9386147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34640" y="571500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7CAE5"/>
                </a:solidFill>
                <a:latin typeface="Aptos"/>
              </a:rPr>
              <a:t>Supported input formats: PDF, DOCX, TXT</a:t>
            </a:r>
          </a:p>
        </p:txBody>
      </p:sp>
      <p:cxnSp>
        <p:nvCxnSpPr>
          <p:cNvPr id="41" name="Connector 35">
            <a:extLst>
              <a:ext uri="{FF2B5EF4-FFF2-40B4-BE49-F238E27FC236}">
                <a16:creationId xmlns:a16="http://schemas.microsoft.com/office/drawing/2014/main" id="{87CE414A-1AB2-2616-00E4-F5162C1CF85A}"/>
              </a:ext>
            </a:extLst>
          </p:cNvPr>
          <p:cNvCxnSpPr>
            <a:cxnSpLocks/>
          </p:cNvCxnSpPr>
          <p:nvPr/>
        </p:nvCxnSpPr>
        <p:spPr>
          <a:xfrm>
            <a:off x="443653" y="3337560"/>
            <a:ext cx="0" cy="1217507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35">
            <a:extLst>
              <a:ext uri="{FF2B5EF4-FFF2-40B4-BE49-F238E27FC236}">
                <a16:creationId xmlns:a16="http://schemas.microsoft.com/office/drawing/2014/main" id="{08D33752-C93F-7BE3-06B8-62DAA7628F5B}"/>
              </a:ext>
            </a:extLst>
          </p:cNvPr>
          <p:cNvCxnSpPr>
            <a:cxnSpLocks/>
          </p:cNvCxnSpPr>
          <p:nvPr/>
        </p:nvCxnSpPr>
        <p:spPr>
          <a:xfrm>
            <a:off x="452120" y="4555067"/>
            <a:ext cx="187960" cy="0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ENGINEERING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09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CAE5"/>
                </a:solidFill>
                <a:latin typeface="Aptos"/>
              </a:rP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Core programming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09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17CF5"/>
                </a:solidFill>
                <a:latin typeface="Aptos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993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REST 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06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2752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CAE5"/>
                </a:solidFill>
                <a:latin typeface="Aptos"/>
              </a:rPr>
              <a:t>React.js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136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Frontend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606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752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17CF5"/>
                </a:solidFill>
                <a:latin typeface="Aptos"/>
              </a:rPr>
              <a:t>Vite 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136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Frontend build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606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2752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CF8F"/>
                </a:solidFill>
                <a:latin typeface="Aptos"/>
              </a:rPr>
              <a:t>Sentence-Transformers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136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BERT-based embeddings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49039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CAE5"/>
                </a:solidFill>
                <a:latin typeface="Aptos"/>
              </a:rPr>
              <a:t>PyMuPDF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279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PDF 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49039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17CF5"/>
                </a:solidFill>
                <a:latin typeface="Aptos"/>
              </a:rPr>
              <a:t>python-docx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279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DOCX extraction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749039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48472" y="3895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CF8F"/>
                </a:solidFill>
                <a:latin typeface="Aptos"/>
              </a:rPr>
              <a:t>SQLite + SQLAlchemy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4279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Persistence + 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892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5038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CAE5"/>
                </a:solidFill>
                <a:latin typeface="Aptos"/>
              </a:rPr>
              <a:t>bcrypt + python-jose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422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Password hashing + JWT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892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5038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17CF5"/>
                </a:solidFill>
                <a:latin typeface="Aptos"/>
              </a:rPr>
              <a:t>scikit-learn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5422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Cosine similarity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80" y="4892040"/>
            <a:ext cx="3429000" cy="9144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48472" y="5038344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CF8F"/>
                </a:solidFill>
                <a:latin typeface="Aptos"/>
              </a:rPr>
              <a:t>CSS3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5422392"/>
            <a:ext cx="30998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F8FA"/>
                </a:solidFill>
                <a:latin typeface="Aptos"/>
              </a:rPr>
              <a:t>Responsive UI + dark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Application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0934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CAE5"/>
                </a:solidFill>
                <a:latin typeface="Aptos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93392"/>
            <a:ext cx="4837176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A"/>
                </a:solidFill>
                <a:latin typeface="Aptos"/>
              </a:rPr>
              <a:t>Registration, login, </a:t>
            </a:r>
            <a:r>
              <a:rPr sz="1700" b="0" dirty="0" err="1">
                <a:solidFill>
                  <a:srgbClr val="F5F8FA"/>
                </a:solidFill>
                <a:latin typeface="Aptos"/>
              </a:rPr>
              <a:t>bcrypt</a:t>
            </a:r>
            <a:r>
              <a:rPr sz="1700" b="0" dirty="0">
                <a:solidFill>
                  <a:srgbClr val="F5F8FA"/>
                </a:solidFill>
                <a:latin typeface="Aptos"/>
              </a:rPr>
              <a:t> hashing, JWT access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60934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7CF5"/>
                </a:solidFill>
                <a:latin typeface="Aptos"/>
              </a:rPr>
              <a:t>Resume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20008"/>
            <a:ext cx="483717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Text input, PDF/DOCX/TXT upload, extraction, CRUD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02666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BCF8F"/>
                </a:solidFill>
                <a:latin typeface="Aptos"/>
              </a:rPr>
              <a:t>Job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346704"/>
            <a:ext cx="483717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Create job title, description, skills, and experience requirements.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02666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AB3D"/>
                </a:solidFill>
                <a:latin typeface="Aptos"/>
              </a:rPr>
              <a:t>AI Matching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362092"/>
            <a:ext cx="4837176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A"/>
                </a:solidFill>
                <a:latin typeface="Aptos"/>
              </a:rPr>
              <a:t>Embedding generation, cosine similarity, ranking, history logging.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444398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CAE5"/>
                </a:solidFill>
                <a:latin typeface="Aptos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751298"/>
            <a:ext cx="4837176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A"/>
                </a:solidFill>
                <a:latin typeface="Aptos"/>
              </a:rPr>
              <a:t>Statistics, recent matches, search, candidate cards.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166360" cy="114300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4443984"/>
            <a:ext cx="4837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7CF5"/>
                </a:solidFill>
                <a:latin typeface="Aptos"/>
              </a:rPr>
              <a:t>Frontend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730567"/>
            <a:ext cx="4837176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A"/>
                </a:solidFill>
                <a:latin typeface="Aptos"/>
              </a:rPr>
              <a:t>React interface, dark mode, score rings, responsive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SQLite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37560" cy="1344168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92224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CAE5"/>
                </a:solidFill>
                <a:latin typeface="Aptos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76272"/>
            <a:ext cx="300837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A"/>
                </a:solidFill>
                <a:latin typeface="Aptos"/>
              </a:rPr>
              <a:t>id
username
hashed_password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9148" y="751638"/>
            <a:ext cx="3337560" cy="2029967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3740" y="897941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17CF5"/>
                </a:solidFill>
                <a:latin typeface="Aptos"/>
              </a:rPr>
              <a:t>RESUMES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3740" y="1281990"/>
            <a:ext cx="3008376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A"/>
                </a:solidFill>
                <a:latin typeface="Aptos"/>
              </a:rPr>
              <a:t>id
user_id
candidate_name
email
resume_text
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7692" y="3735325"/>
            <a:ext cx="3337560" cy="2258568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72284" y="3881629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BCF8F"/>
                </a:solidFill>
                <a:latin typeface="Aptos"/>
              </a:rPr>
              <a:t>JOBS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2284" y="4265677"/>
            <a:ext cx="3008376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A"/>
                </a:solidFill>
                <a:latin typeface="Aptos"/>
              </a:rPr>
              <a:t>id
user_id
title
description
company
required_skills
min_experience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8640" y="3538729"/>
            <a:ext cx="3337560" cy="2258568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3232" y="3685033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B3D"/>
                </a:solidFill>
                <a:latin typeface="Aptos"/>
              </a:rPr>
              <a:t>SCREENING_HISTORY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3232" y="4069081"/>
            <a:ext cx="3008376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5F8FA"/>
                </a:solidFill>
                <a:latin typeface="Aptos"/>
              </a:rPr>
              <a:t>id
user_id
job_title
job_description
results_json
top_candidate
top_score</a:t>
            </a:r>
          </a:p>
        </p:txBody>
      </p:sp>
      <p:cxnSp>
        <p:nvCxnSpPr>
          <p:cNvPr id="18" name="Connector 17"/>
          <p:cNvCxnSpPr>
            <a:cxnSpLocks/>
            <a:stCxn id="6" idx="3"/>
            <a:endCxn id="9" idx="1"/>
          </p:cNvCxnSpPr>
          <p:nvPr/>
        </p:nvCxnSpPr>
        <p:spPr>
          <a:xfrm flipV="1">
            <a:off x="4023360" y="1766622"/>
            <a:ext cx="2875788" cy="551382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6" idx="2"/>
            <a:endCxn id="12" idx="0"/>
          </p:cNvCxnSpPr>
          <p:nvPr/>
        </p:nvCxnSpPr>
        <p:spPr>
          <a:xfrm>
            <a:off x="2354580" y="2990088"/>
            <a:ext cx="1421892" cy="745237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6" idx="3"/>
            <a:endCxn id="15" idx="1"/>
          </p:cNvCxnSpPr>
          <p:nvPr/>
        </p:nvCxnSpPr>
        <p:spPr>
          <a:xfrm>
            <a:off x="4023360" y="2318004"/>
            <a:ext cx="4145280" cy="2350009"/>
          </a:xfrm>
          <a:prstGeom prst="line">
            <a:avLst/>
          </a:prstGeom>
          <a:ln w="27940">
            <a:solidFill>
              <a:srgbClr val="27C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10636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AFC0CD"/>
                </a:solidFill>
                <a:latin typeface="Aptos"/>
              </a:rPr>
              <a:t>Relationships use </a:t>
            </a:r>
            <a:r>
              <a:rPr sz="1400" b="0" dirty="0" err="1">
                <a:solidFill>
                  <a:srgbClr val="AFC0CD"/>
                </a:solidFill>
                <a:latin typeface="Aptos"/>
              </a:rPr>
              <a:t>user_id</a:t>
            </a:r>
            <a:r>
              <a:rPr sz="1400" b="0" dirty="0">
                <a:solidFill>
                  <a:srgbClr val="AFC0CD"/>
                </a:solidFill>
                <a:latin typeface="Aptos"/>
              </a:rPr>
              <a:t> as the main ownership link for resumes, jobs, and screening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A"/>
                </a:solidFill>
                <a:latin typeface="Aptos"/>
              </a:rPr>
              <a:t>Functional and AI matching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46200"/>
            <a:ext cx="5303520" cy="4899152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55063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CF8F"/>
                </a:solidFill>
                <a:latin typeface="Aptos"/>
              </a:rPr>
              <a:t>FUNCTIONAL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497433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The report records passing tests for:
• Duplicate registration handling
• Text resume creation
• PDF upload and extraction
• Job creation
• Candidate matching
• Protected routes
• Full integration flow
• Resume search filtering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25694"/>
            <a:ext cx="5303520" cy="429768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655063"/>
            <a:ext cx="4974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7CAE5"/>
                </a:solidFill>
                <a:latin typeface="Aptos"/>
              </a:rPr>
              <a:t>SAMPLE AI MATCHING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039112"/>
            <a:ext cx="5215128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DevOps Engineer + AWS/ Docker/ Jenkins resume: 58–75%, expected High, marked Correct.
ML Engineer + Python/ TensorFlow vs React/Node resume: 20–35%, expected Low, marked Correct.
Python Developer + Python/Django resume: 65–80%, expected High, marked Correct.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CAE5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5F8FA"/>
                </a:solidFill>
                <a:latin typeface="Aptos"/>
              </a:rPr>
              <a:t>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1089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FC0CD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1155680" cy="16459"/>
          </a:xfrm>
          <a:prstGeom prst="rect">
            <a:avLst/>
          </a:prstGeom>
          <a:solidFill>
            <a:srgbClr val="16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2020147"/>
            <a:ext cx="5074920" cy="242316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166451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05265"/>
                </a:solidFill>
                <a:latin typeface="Aptos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2550499"/>
            <a:ext cx="4745736" cy="1554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solidFill>
                  <a:srgbClr val="F5F8FA"/>
                </a:solidFill>
                <a:latin typeface="Aptos"/>
              </a:rPr>
              <a:t>• 256-token maximum sequence length
• No structured field extraction
• English-focused processing
• </a:t>
            </a:r>
            <a:r>
              <a:rPr sz="1900" b="0" dirty="0" err="1">
                <a:solidFill>
                  <a:srgbClr val="F5F8FA"/>
                </a:solidFill>
                <a:latin typeface="Aptos"/>
              </a:rPr>
              <a:t>MiniLM</a:t>
            </a:r>
            <a:r>
              <a:rPr sz="1900" b="0" dirty="0">
                <a:solidFill>
                  <a:srgbClr val="F5F8FA"/>
                </a:solidFill>
                <a:latin typeface="Aptos"/>
              </a:rPr>
              <a:t> may miss highly domain-specific terminology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020147"/>
            <a:ext cx="5074920" cy="3383280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5352" y="2166451"/>
            <a:ext cx="47457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CF8F"/>
                </a:solidFill>
                <a:latin typeface="Aptos"/>
              </a:rPr>
              <a:t>FUTURE ENHANCEMENTS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486491"/>
            <a:ext cx="4745736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F5F8FA"/>
                </a:solidFill>
                <a:latin typeface="Aptos"/>
              </a:rPr>
              <a:t>• LLM-powered candidate summaries
• Skill-gap analysis
• CSV/PDF export
• Candidate shortlisting
• Email notifications
• Bulk upload
• Advanced analytics
• Role-based access control
• Larger BERT models
• AWS/GCP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959EE-4FA0-DE6A-536B-4E1A8860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7AD1EE-4D5D-F630-DB04-EC0E8A425F08}"/>
              </a:ext>
            </a:extLst>
          </p:cNvPr>
          <p:cNvSpPr/>
          <p:nvPr/>
        </p:nvSpPr>
        <p:spPr>
          <a:xfrm>
            <a:off x="795866" y="702733"/>
            <a:ext cx="10651067" cy="5274734"/>
          </a:xfrm>
          <a:prstGeom prst="roundRect">
            <a:avLst/>
          </a:prstGeom>
          <a:solidFill>
            <a:srgbClr val="122A3E"/>
          </a:solidFill>
          <a:ln>
            <a:solidFill>
              <a:srgbClr val="16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16CC4-F13C-C027-221B-794A721F723F}"/>
              </a:ext>
            </a:extLst>
          </p:cNvPr>
          <p:cNvSpPr txBox="1"/>
          <p:nvPr/>
        </p:nvSpPr>
        <p:spPr>
          <a:xfrm>
            <a:off x="3149936" y="2062827"/>
            <a:ext cx="7560396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0" b="0" dirty="0">
                <a:solidFill>
                  <a:srgbClr val="F5F8FA"/>
                </a:solidFill>
                <a:latin typeface="Algerian" panose="04020705040A02060702" pitchFamily="82" charset="0"/>
              </a:rPr>
              <a:t>Thank </a:t>
            </a:r>
          </a:p>
          <a:p>
            <a:pPr algn="l"/>
            <a:r>
              <a:rPr lang="en-US" sz="8000" dirty="0">
                <a:solidFill>
                  <a:srgbClr val="F5F8FA"/>
                </a:solidFill>
                <a:latin typeface="Algerian" panose="04020705040A02060702" pitchFamily="82" charset="0"/>
              </a:rPr>
              <a:t>							</a:t>
            </a:r>
            <a:r>
              <a:rPr lang="en-US" sz="8000" b="0" dirty="0">
                <a:solidFill>
                  <a:srgbClr val="F5F8FA"/>
                </a:solidFill>
                <a:latin typeface="Algerian" panose="04020705040A02060702" pitchFamily="82" charset="0"/>
              </a:rPr>
              <a:t>You</a:t>
            </a:r>
            <a:endParaRPr sz="8000" b="0" dirty="0">
              <a:solidFill>
                <a:srgbClr val="F5F8FA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1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1034</Words>
  <Application>Microsoft Office PowerPoint</Application>
  <PresentationFormat>Widescreen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MONESH DEVADIGA</cp:lastModifiedBy>
  <cp:revision>17</cp:revision>
  <dcterms:created xsi:type="dcterms:W3CDTF">2013-01-27T09:14:16Z</dcterms:created>
  <dcterms:modified xsi:type="dcterms:W3CDTF">2026-09-25T10:37:11Z</dcterms:modified>
  <cp:category/>
</cp:coreProperties>
</file>